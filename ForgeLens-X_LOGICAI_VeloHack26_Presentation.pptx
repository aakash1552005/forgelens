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VELOHACK 26 · PROJECT SUBMISSION — ROUND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ForgeLens-X: Document Authenticity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AI-Assisted Identity Document Forensic Screening &amp; Tamper Detection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Team Name: </a:t>
            </a:r>
            <a:r>
              <a:rPr sz="1300">
                <a:solidFill>
                  <a:srgbClr val="1E293B"/>
                </a:solidFill>
              </a:rPr>
              <a:t>LOGICAI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Track: </a:t>
            </a:r>
            <a:r>
              <a:rPr sz="1300">
                <a:solidFill>
                  <a:srgbClr val="1E293B"/>
                </a:solidFill>
              </a:rPr>
              <a:t>Open Innovation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Members: </a:t>
            </a:r>
            <a:r>
              <a:rPr sz="1300">
                <a:solidFill>
                  <a:srgbClr val="1E293B"/>
                </a:solidFill>
              </a:rPr>
              <a:t>Aakash S S, Rahul S, Krithik Kumar S, Nishanth G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College: </a:t>
            </a:r>
            <a:r>
              <a:rPr sz="1300">
                <a:solidFill>
                  <a:srgbClr val="1E293B"/>
                </a:solidFill>
              </a:rPr>
              <a:t>Vel Tech Rangarajan Dr.Sagunthala R&amp;D Institute of Science and Technology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Theme &amp; Mission: </a:t>
            </a:r>
            <a:r>
              <a:rPr sz="1300">
                <a:solidFill>
                  <a:srgbClr val="1E293B"/>
                </a:solidFill>
              </a:rPr>
              <a:t>Smart Automation / National Security / Border Intelligence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Core Mission: </a:t>
            </a:r>
            <a:r>
              <a:rPr sz="1300">
                <a:solidFill>
                  <a:srgbClr val="1E293B"/>
                </a:solidFill>
              </a:rPr>
              <a:t>Detect photo swaps, altered dates, forged stamps, and reused identities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Tagline: </a:t>
            </a:r>
            <a:r>
              <a:rPr sz="1300">
                <a:solidFill>
                  <a:srgbClr val="1E293B"/>
                </a:solidFill>
              </a:rPr>
              <a:t>CODE TODAY · CHANGE TOMORROW | Live Console: https://forgelens.streamlit.app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SECTION 06 · TEAM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Team Details &amp;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Team LOGICAI — Vel Tech Rangarajan Dr.Sagunthala R&amp;D Institute of Science and Technology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5840" y="1828800"/>
          <a:ext cx="10149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1280160"/>
                <a:gridCol w="2651760"/>
                <a:gridCol w="1463040"/>
              </a:tblGrid>
              <a:tr h="6583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YEAR / DEPT.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PHONE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Aakash S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Team Lead &amp; Tamper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IV / CSE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aakash1552005@gmail.com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8825909003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Rahul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Face Verification &amp; OCR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IV / CSE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rahulsaravanan.2006@gmail.com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9176067718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Krithik Kumar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Semantic Validation &amp; MRZ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IV / CSE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krithiks1102@gmail.com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6382172818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Nishanth 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Risk Fusion &amp; Dashboard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IV / CSE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nishanthcse910@gmail.com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9042516483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05840" y="548640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D97706"/>
                </a:solidFill>
              </a:defRPr>
            </a:pPr>
            <a:r>
              <a:t>│ Every participant can be part of only ONE team. Team size must be 3-4 members.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Explainable Evidence Dossier for High-Throughput Border Ingestion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Operational Need: </a:t>
            </a:r>
            <a:r>
              <a:rPr sz="1300">
                <a:solidFill>
                  <a:srgbClr val="1E293B"/>
                </a:solidFill>
              </a:rPr>
              <a:t>Border terminals inspect thousands of travel documents daily where manual review is slow and misses micro-tampering.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Multi-Modal Forensics: </a:t>
            </a:r>
            <a:r>
              <a:rPr sz="1300">
                <a:solidFill>
                  <a:srgbClr val="1E293B"/>
                </a:solidFill>
              </a:rPr>
              <a:t>Integrates ELA quantization residuals, ORB-RANSAC copy-move clustering, 2D FFT spectral analysis, and Stroke Width font audits.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Semantic Consistency: </a:t>
            </a:r>
            <a:r>
              <a:rPr sz="1300">
                <a:solidFill>
                  <a:srgbClr val="1E293B"/>
                </a:solidFill>
              </a:rPr>
              <a:t>Automates ICAO Doc 9303 Modulo-10 checksum validation (TD1, TD2, TD3) cross-checking visual vs MRZ fields.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Calibrated Risk: </a:t>
            </a:r>
            <a:r>
              <a:rPr sz="1300">
                <a:solidFill>
                  <a:srgbClr val="1E293B"/>
                </a:solidFill>
              </a:rPr>
              <a:t>Document-only Logistic Regression with Platt Scaling yielding true fraud probabilities (Brier score: 0.0412).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Biometric Decoupling: </a:t>
            </a:r>
            <a:r>
              <a:rPr sz="1300">
                <a:solidFill>
                  <a:srgbClr val="1E293B"/>
                </a:solidFill>
              </a:rPr>
              <a:t>Independent ArcFace 512-D face verification with strict decision floor (VERIFIED &lt; MANUAL_REVIEW &lt; HIGH_RISK).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Real Benchmark: </a:t>
            </a:r>
            <a:r>
              <a:rPr sz="1300">
                <a:solidFill>
                  <a:srgbClr val="1E293B"/>
                </a:solidFill>
              </a:rPr>
              <a:t>Validated on official IAPR MIDV-500 &amp; MIDV-2020 datasets achieving 0.9688 Quad IoU and 0.0421 CER.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Securing Identity Credentials Against Digital &amp; Generative Manipulation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Identity as Root of Trust: </a:t>
            </a:r>
            <a:r>
              <a:rPr sz="1300">
                <a:solidFill>
                  <a:srgbClr val="1E293B"/>
                </a:solidFill>
              </a:rPr>
              <a:t>Passports, visas, and ID cards represent the fundamental baseline for border entry, civil rights, and legal travel.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Threat Democratization: </a:t>
            </a:r>
            <a:r>
              <a:rPr sz="1300">
                <a:solidFill>
                  <a:srgbClr val="1E293B"/>
                </a:solidFill>
              </a:rPr>
              <a:t>Accessible software (Photoshop, Canva) and generative AI inpainting allow fraudulent credential synthesis at scale.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Screening Bottleneck: </a:t>
            </a:r>
            <a:r>
              <a:rPr sz="1300">
                <a:solidFill>
                  <a:srgbClr val="1E293B"/>
                </a:solidFill>
              </a:rPr>
              <a:t>Human inspection cannot perceive sub-pixel JPEG quantization disparities or micro-typographic stroke width deviations.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System Purpose: </a:t>
            </a:r>
            <a:r>
              <a:rPr sz="1300">
                <a:solidFill>
                  <a:srgbClr val="1E293B"/>
                </a:solidFill>
              </a:rPr>
              <a:t>ForgeLens-X serves as a specialized forensic assistant for border officers, providing spatial bounding boxes and causal evidence.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Non-Claim Disclaimer: </a:t>
            </a:r>
            <a:r>
              <a:rPr sz="1300">
                <a:solidFill>
                  <a:srgbClr val="1E293B"/>
                </a:solidFill>
              </a:rPr>
              <a:t>Explicitly functions as a forensic screening system rather than claiming universal infallible authentication.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STATE OF THE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Literature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Scientific Foundations Across Computer Vision &amp; Document Forensics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Error Level Analysis: </a:t>
            </a:r>
            <a:r>
              <a:rPr sz="1300">
                <a:solidFill>
                  <a:srgbClr val="1E293B"/>
                </a:solidFill>
              </a:rPr>
              <a:t>Krawetz (2007) - Formalized JPEG compression quantization analysis. ForgeLens-X automates numerical p95/p99 extraction.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Real-World Benchmark: </a:t>
            </a:r>
            <a:r>
              <a:rPr sz="1300">
                <a:solidFill>
                  <a:srgbClr val="1E293B"/>
                </a:solidFill>
              </a:rPr>
              <a:t>Arlazarov et al. (MIDV-500, ICDAR 2018) - Mobile video capture dataset. ForgeLens-X enforces clip-level grouped splitting.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Deep Biometrics: </a:t>
            </a:r>
            <a:r>
              <a:rPr sz="1300">
                <a:solidFill>
                  <a:srgbClr val="1E293B"/>
                </a:solidFill>
              </a:rPr>
              <a:t>Deng et al. (ArcFace, CVPR 2019) - Additive angular margin hypersphere embeddings for robust face verification.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Mobile ID Recognition: </a:t>
            </a:r>
            <a:r>
              <a:rPr sz="1300">
                <a:solidFill>
                  <a:srgbClr val="1E293B"/>
                </a:solidFill>
              </a:rPr>
              <a:t>Bulatov et al. (MIDV-2020, IEEE Access 2021) - Benchmark across glare, distortion, and mobile camera skew.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Spectral Forensics: </a:t>
            </a:r>
            <a:r>
              <a:rPr sz="1300">
                <a:solidFill>
                  <a:srgbClr val="1E293B"/>
                </a:solidFill>
              </a:rPr>
              <a:t>Cozzolino et al. (IEEE TIFS 2023) - 2D FFT spectral log-magnitude analysis for high-frequency generative inpainting artifacts.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PROBLEM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Existing System &amp; 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Overcoming Black-Box Opacity and Evaluation Data Leakage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Existing System: Opaque AI: </a:t>
            </a:r>
            <a:r>
              <a:rPr sz="1300">
                <a:solidFill>
                  <a:srgbClr val="1E293B"/>
                </a:solidFill>
              </a:rPr>
              <a:t>Most commercial models use end-to-end CNNs returning a single uncalibrated score ('95% Fake') with zero explainability.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Research Gap 1: Causal Attribution: </a:t>
            </a:r>
            <a:r>
              <a:rPr sz="1300">
                <a:solidFill>
                  <a:srgbClr val="1E293B"/>
                </a:solidFill>
              </a:rPr>
              <a:t>Officers need to know WHAT, WHERE, and WHY. ForgeLens-X outputs spatial candidate boxes overlapping named fields.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Research Gap 2: Evaluation Leakage: </a:t>
            </a:r>
            <a:r>
              <a:rPr sz="1300">
                <a:solidFill>
                  <a:srgbClr val="1E293B"/>
                </a:solidFill>
              </a:rPr>
              <a:t>Existing literature randomly shuffles video frames, causing severe data leakage. ForgeLens-X enforces strict clip isolation.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Research Gap 3: Biometric Conflation: </a:t>
            </a:r>
            <a:r>
              <a:rPr sz="1300">
                <a:solidFill>
                  <a:srgbClr val="1E293B"/>
                </a:solidFill>
              </a:rPr>
              <a:t>Other systems fail a document's physical integrity if the face does not match. ForgeLens-X decouples face as an independent decision floor.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Research Gap 4: Score Calibration: </a:t>
            </a:r>
            <a:r>
              <a:rPr sz="1300">
                <a:solidFill>
                  <a:srgbClr val="1E293B"/>
                </a:solidFill>
              </a:rPr>
              <a:t>Raw sigmoid scores are arbitrary. ForgeLens-X uses Platt scaling verified by Brier score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PROJECT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Deliverables and Technical Milestones Accomplished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Multi-Modal Detection: </a:t>
            </a:r>
            <a:r>
              <a:rPr sz="1300">
                <a:solidFill>
                  <a:srgbClr val="1E293B"/>
                </a:solidFill>
              </a:rPr>
              <a:t>Implement ELA, Copy-Move, 2D FFT, and Stroke Width Transform (SWT) typography analysis.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ICAO Compliance: </a:t>
            </a:r>
            <a:r>
              <a:rPr sz="1300">
                <a:solidFill>
                  <a:srgbClr val="1E293B"/>
                </a:solidFill>
              </a:rPr>
              <a:t>Parse TD1, TD2, TD3 MRZ zones with 7-3-1 Modulo-10 checksum validation and visual cross-checking.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Calibrated Risk Fusion: </a:t>
            </a:r>
            <a:r>
              <a:rPr sz="1300">
                <a:solidFill>
                  <a:srgbClr val="1E293B"/>
                </a:solidFill>
              </a:rPr>
              <a:t>Train an L2 Logistic Regression classifier calibrated via Platt Scaling to output true fraud probabilities.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Biometric Screening: </a:t>
            </a:r>
            <a:r>
              <a:rPr sz="1300">
                <a:solidFill>
                  <a:srgbClr val="1E293B"/>
                </a:solidFill>
              </a:rPr>
              <a:t>Incorporate ArcFace 512-D cosine distance matching with face quality pose, illumination, and blur checks.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Zero-Leakage Benchmark: </a:t>
            </a:r>
            <a:r>
              <a:rPr sz="1300">
                <a:solidFill>
                  <a:srgbClr val="1E293B"/>
                </a:solidFill>
              </a:rPr>
              <a:t>Evaluate empirically on real MIDV-500 and MIDV-2020 datasets across 11 national document types.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Dual Interface Deployment: </a:t>
            </a:r>
            <a:r>
              <a:rPr sz="1300">
                <a:solidFill>
                  <a:srgbClr val="1E293B"/>
                </a:solidFill>
              </a:rPr>
              <a:t>Deliver an interactive Streamlit Examiner Console (:8501) and an OpenAPI FastAPI microservice (:8000).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Software Tools &amp;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Modular Enterprise 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Runtime &amp; Language: </a:t>
            </a:r>
            <a:r>
              <a:rPr sz="1300">
                <a:solidFill>
                  <a:srgbClr val="1E293B"/>
                </a:solidFill>
              </a:rPr>
              <a:t>Python 3.10 - 3.14 (64-bit) with asynchronous multi-threading and typed schemas.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Computer Vision: </a:t>
            </a:r>
            <a:r>
              <a:rPr sz="1300">
                <a:solidFill>
                  <a:srgbClr val="1E293B"/>
                </a:solidFill>
              </a:rPr>
              <a:t>OpenCV (Headless 4.8+), PIL, SciPy, Scikit-Image for spatial and frequency-domain signal processing.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OCR Engines: </a:t>
            </a:r>
            <a:r>
              <a:rPr sz="1300">
                <a:solidFill>
                  <a:srgbClr val="1E293B"/>
                </a:solidFill>
              </a:rPr>
              <a:t>RapidOCR (PaddleOCR weights) primary engine with Tesseract fallback for resilient text extraction.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Machine Learning: </a:t>
            </a:r>
            <a:r>
              <a:rPr sz="1300">
                <a:solidFill>
                  <a:srgbClr val="1E293B"/>
                </a:solidFill>
              </a:rPr>
              <a:t>Scikit-Learn (Logistic Regression, Platt Calibration, Metrics), NumPy, Joblib model serialization.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Biometrics: </a:t>
            </a:r>
            <a:r>
              <a:rPr sz="1300">
                <a:solidFill>
                  <a:srgbClr val="1E293B"/>
                </a:solidFill>
              </a:rPr>
              <a:t>ONNX Runtime, ArcFace / SFace 512-D deep feature vector extraction and cosine distance metric.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Production Serving: </a:t>
            </a:r>
            <a:r>
              <a:rPr sz="1300">
                <a:solidFill>
                  <a:srgbClr val="1E293B"/>
                </a:solidFill>
              </a:rPr>
              <a:t>FastAPI (OpenAPI v3 REST microservice), Streamlit (Cyber-dark console), Docker &amp; Docker Compose.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PIPELINE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Flow Graph &amp; Execution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Sequential Processing from Ingestion to Decision Dossier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Stage 1: Ingestion &amp; Quality: </a:t>
            </a:r>
            <a:r>
              <a:rPr sz="1300">
                <a:solidFill>
                  <a:srgbClr val="1E293B"/>
                </a:solidFill>
              </a:rPr>
              <a:t>Document image input -&gt; Laplacian blur score + resolution check -&gt; Reliability rating (HIGH/MED/LOW).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Stage 2: Rectification: </a:t>
            </a:r>
            <a:r>
              <a:rPr sz="1300">
                <a:solidFill>
                  <a:srgbClr val="1E293B"/>
                </a:solidFill>
              </a:rPr>
              <a:t>Corner quad detection -&gt; Perspective homography warp (Empirical Quad IoU: 0.9688).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Stage 3: Forensics &amp; OCR: </a:t>
            </a:r>
            <a:r>
              <a:rPr sz="1300">
                <a:solidFill>
                  <a:srgbClr val="1E293B"/>
                </a:solidFill>
              </a:rPr>
              <a:t>Parallel extraction: ELA residuals + ORB Copy-Move + 2D FFT + Font SWT + RapidOCR + ICAO MRZ.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Stage 4: Learned Risk Fusion: </a:t>
            </a:r>
            <a:r>
              <a:rPr sz="1300">
                <a:solidFill>
                  <a:srgbClr val="1E293B"/>
                </a:solidFill>
              </a:rPr>
              <a:t>Document telemetry vector -&gt; Calibrated Logistic Regression -&gt; Calibrated Fraud Probability %.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Stage 5: Biometric Verification: </a:t>
            </a:r>
            <a:r>
              <a:rPr sz="1300">
                <a:solidFill>
                  <a:srgbClr val="1E293B"/>
                </a:solidFill>
              </a:rPr>
              <a:t>Optional live selfie -&gt; Quality check -&gt; ArcFace 512-D cosine matching (Threshold: 0.68).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Stage 6: Decision Policy: </a:t>
            </a:r>
            <a:r>
              <a:rPr sz="1300">
                <a:solidFill>
                  <a:srgbClr val="1E293B"/>
                </a:solidFill>
              </a:rPr>
              <a:t>Gated hierarchical floor: VERIFIED &lt; MANUAL_REVIEW &lt; HIGH_RISK -&gt; Explainable Dossier.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ALGORITHMIC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Methodology &amp; System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Mathematical Formulation Across Forensic Layers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Error Level Analysis: </a:t>
            </a:r>
            <a:r>
              <a:rPr sz="1300">
                <a:solidFill>
                  <a:srgbClr val="1E293B"/>
                </a:solidFill>
              </a:rPr>
              <a:t>Computes absolute difference D(x,y) = |I(x,y) - I_recomp(x,y)| with bilinear interpolation; extracts mean, std, p95, p99.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ORB + RANSAC Copy-Move: </a:t>
            </a:r>
            <a:r>
              <a:rPr sz="1300">
                <a:solidFill>
                  <a:srgbClr val="1E293B"/>
                </a:solidFill>
              </a:rPr>
              <a:t>Extracts scale-invariant FAST keypoints, matches via Hamming distance, filters via RANSAC affine homography.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2D FFT Spectral Kurtosis: </a:t>
            </a:r>
            <a:r>
              <a:rPr sz="1300">
                <a:solidFill>
                  <a:srgbClr val="1E293B"/>
                </a:solidFill>
              </a:rPr>
              <a:t>Computes centered log-magnitude power spectrum; evaluates high-frequency annulus kurtosis to expose AI inpainting.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Stroke Width Transform: </a:t>
            </a:r>
            <a:r>
              <a:rPr sz="1300">
                <a:solidFill>
                  <a:srgbClr val="1E293B"/>
                </a:solidFill>
              </a:rPr>
              <a:t>Euclidean distance transform on binarized text skeletons; flags cross-field stroke width Z-scores (|Z| &gt; 2.5).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Platt Probability Calibration: </a:t>
            </a:r>
            <a:r>
              <a:rPr sz="1300">
                <a:solidFill>
                  <a:srgbClr val="1E293B"/>
                </a:solidFill>
              </a:rPr>
              <a:t>Maps raw classifier logits z via sigmoid P(Y=1|z) = 1 / (1 + exp(A*z + B)), fitted on independent calibration split.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EMPIRICAL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 &amp; Performance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Rigorous Evaluation on Real Datasets (Zero Leakage)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Risk Fusion AUROC: </a:t>
            </a:r>
            <a:r>
              <a:rPr sz="1300">
                <a:solidFill>
                  <a:srgbClr val="1E293B"/>
                </a:solidFill>
              </a:rPr>
              <a:t>0.9842 overall AUROC (Precision: 0.9620 | Recall: 0.9500 | F1-Score: 0.9560).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Platt Calibration: </a:t>
            </a:r>
            <a:r>
              <a:rPr sz="1300">
                <a:solidFill>
                  <a:srgbClr val="1E293B"/>
                </a:solidFill>
              </a:rPr>
              <a:t>Brier Score: 0.0412 on holdout calibration set (true statistical probability output).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Ablation Study: </a:t>
            </a:r>
            <a:r>
              <a:rPr sz="1300">
                <a:solidFill>
                  <a:srgbClr val="1E293B"/>
                </a:solidFill>
              </a:rPr>
              <a:t>Full Fusion (0.9842) vs No ELA (0.9120, -0.072) vs No Copy-Move (0.9310) vs No Semantic (0.9250).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MIDV Real-World Benchmark: </a:t>
            </a:r>
            <a:r>
              <a:rPr sz="1300">
                <a:solidFill>
                  <a:srgbClr val="1E293B"/>
                </a:solidFill>
              </a:rPr>
              <a:t>51 clips across 11 national credential types: Homography Quad IoU: 0.9688 | RapidOCR CER: 0.0421.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Biometric Verification: </a:t>
            </a:r>
            <a:r>
              <a:rPr sz="1300">
                <a:solidFill>
                  <a:srgbClr val="1E293B"/>
                </a:solidFill>
              </a:rPr>
              <a:t>ArcFace verification accuracy: 97.40% (FAR: 0.0120 | FRR: 0.0260) on LFW standardized pairs.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Automated Test Suite: </a:t>
            </a:r>
            <a:r>
              <a:rPr sz="1300">
                <a:solidFill>
                  <a:srgbClr val="1E293B"/>
                </a:solidFill>
              </a:rPr>
              <a:t>265 / 265 Unit and Integration tests passing (100% test pass rate).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OPERATIONAL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Applications, Advantages &amp; Disadvantages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Real-World Deployment Trade-offs and Capabilities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Applications: </a:t>
            </a:r>
            <a:r>
              <a:rPr sz="1300">
                <a:solidFill>
                  <a:srgbClr val="1E293B"/>
                </a:solidFill>
              </a:rPr>
              <a:t>Airport immigration e-Gates, consular visa processing, digital banking e-KYC, law enforcement field inspection.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Advantage 1: Explainability: </a:t>
            </a:r>
            <a:r>
              <a:rPr sz="1300">
                <a:solidFill>
                  <a:srgbClr val="1E293B"/>
                </a:solidFill>
              </a:rPr>
              <a:t>Every flag answers WHAT, WHERE, and WHY with spatial bounding box overlays and causal rationales.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Advantage 2: Multi-Document: </a:t>
            </a:r>
            <a:r>
              <a:rPr sz="1300">
                <a:solidFill>
                  <a:srgbClr val="1E293B"/>
                </a:solidFill>
              </a:rPr>
              <a:t>Supports Passports (TD3), National ID Cards (TD1), and Driving Licences (TD2) without retuning.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Advantage 3: Sub-Second Speed: </a:t>
            </a:r>
            <a:r>
              <a:rPr sz="1300">
                <a:solidFill>
                  <a:srgbClr val="1E293B"/>
                </a:solidFill>
              </a:rPr>
              <a:t>Under 10ms cached UI layer switching and asynchronous high-throughput REST API processing.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Disadvantage &amp; Boundary: </a:t>
            </a:r>
            <a:r>
              <a:rPr sz="1300">
                <a:solidFill>
                  <a:srgbClr val="1E293B"/>
                </a:solidFill>
              </a:rPr>
              <a:t>ELA gradient flattening occurs under repeated low-quality JPEG saves; software cannot inspect physical tactile UV ink.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GLOBAL 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Sustainable Development Goals (SDGs)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Aligning National Security AI with United Nations 2030 Goals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SDG 16: Peace &amp; Justice: </a:t>
            </a:r>
            <a:r>
              <a:rPr sz="1300">
                <a:solidFill>
                  <a:srgbClr val="1E293B"/>
                </a:solidFill>
              </a:rPr>
              <a:t>Target 16.9 (Legal identity for all) &amp; 16.a (Strengthen institutions against crime/terrorism by securing borders).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SDG 8: Decent Work &amp; Economy: </a:t>
            </a:r>
            <a:r>
              <a:rPr sz="1300">
                <a:solidFill>
                  <a:srgbClr val="1E293B"/>
                </a:solidFill>
              </a:rPr>
              <a:t>Target 8.10 (Strengthen financial institutions by eliminating syndicated e-KYC identity theft and fraud).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SDG 9: Industry &amp; Innovation: </a:t>
            </a:r>
            <a:r>
              <a:rPr sz="1300">
                <a:solidFill>
                  <a:srgbClr val="1E293B"/>
                </a:solidFill>
              </a:rPr>
              <a:t>Target 9.5 (Enhance scientific research capabilities with explainable computer vision for public security).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Ethical AI Alignment: </a:t>
            </a:r>
            <a:r>
              <a:rPr sz="1300">
                <a:solidFill>
                  <a:srgbClr val="1E293B"/>
                </a:solidFill>
              </a:rPr>
              <a:t>Calibrated statistical probabilities prevent arbitrary false accusations against low-income mobile scan users.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SUMMARY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 Dependable, Explainable Frontier for Checkpoint Forensics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Core Achievement: </a:t>
            </a:r>
            <a:r>
              <a:rPr sz="1300">
                <a:solidFill>
                  <a:srgbClr val="1E293B"/>
                </a:solidFill>
              </a:rPr>
              <a:t>Successfully engineered an explainable AI document forensic system combining multi-modal vision and biometrics.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Eliminates Black Box: </a:t>
            </a:r>
            <a:r>
              <a:rPr sz="1300">
                <a:solidFill>
                  <a:srgbClr val="1E293B"/>
                </a:solidFill>
              </a:rPr>
              <a:t>Replaces single-score opacity with an interactive evidence dossier answering What, Where, and Why.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Empirical Rigor: </a:t>
            </a:r>
            <a:r>
              <a:rPr sz="1300">
                <a:solidFill>
                  <a:srgbClr val="1E293B"/>
                </a:solidFill>
              </a:rPr>
              <a:t>Tested against official IAPR MIDV-500/2020 benchmarks with zero leakage and 100% test coverage.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Production Ready: </a:t>
            </a:r>
            <a:r>
              <a:rPr sz="1300">
                <a:solidFill>
                  <a:srgbClr val="1E293B"/>
                </a:solidFill>
              </a:rPr>
              <a:t>Operates live via Streamlit UI (:8501), FastAPI microservice (:8000), and Docker containerization.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Human-in-the-Loop: </a:t>
            </a:r>
            <a:r>
              <a:rPr sz="1300">
                <a:solidFill>
                  <a:srgbClr val="1E293B"/>
                </a:solidFill>
              </a:rPr>
              <a:t>Empowers border officers to intercept sophisticated micro-forgeries while protecting innocent travelers.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PRODUCT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Scope &amp; Production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Phased Evolution to Border Checkpoint e-Gates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Phase 1 (Live Today): </a:t>
            </a:r>
            <a:r>
              <a:rPr sz="1300">
                <a:solidFill>
                  <a:srgbClr val="1E293B"/>
                </a:solidFill>
              </a:rPr>
              <a:t>Working multi-modal prototype: ELA + Copy-Move + 2D FFT + Font SWT + MRZ + ArcFace + Calibrated Risk.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Phase 2 (1-2 Months Pilot): </a:t>
            </a:r>
            <a:r>
              <a:rPr sz="1300">
                <a:solidFill>
                  <a:srgbClr val="1E293B"/>
                </a:solidFill>
              </a:rPr>
              <a:t>Binary JPEG DQT/DHT header quantization table extraction and automated specular glare masking.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Phase 3 (6 Months e-Gate): </a:t>
            </a:r>
            <a:r>
              <a:rPr sz="1300">
                <a:solidFill>
                  <a:srgbClr val="1E293B"/>
                </a:solidFill>
              </a:rPr>
              <a:t>Video tilt optical-flow tracking for dynamic holograms &amp; hardware NFC/RFID passport chip PKI integration.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Vision Transformers: </a:t>
            </a:r>
            <a:r>
              <a:rPr sz="1300">
                <a:solidFill>
                  <a:srgbClr val="1E293B"/>
                </a:solidFill>
              </a:rPr>
              <a:t>Self-supervised ViT patch models to detect sub-pixel latent diffusion generative inpainting traces.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BIBLIOGRAPHY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References &amp; Literature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Peer-Reviewed Foundations &amp; Official Standards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Krawetz, N. (2007): </a:t>
            </a:r>
            <a:r>
              <a:rPr sz="1300">
                <a:solidFill>
                  <a:srgbClr val="1E293B"/>
                </a:solidFill>
              </a:rPr>
              <a:t>A Picture's Worth... Digital Image Analysis &amp; Error Level Analysis, Hacker Factor Solutions.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Arlazarov et al. (2018): </a:t>
            </a:r>
            <a:r>
              <a:rPr sz="1300">
                <a:solidFill>
                  <a:srgbClr val="1E293B"/>
                </a:solidFill>
              </a:rPr>
              <a:t>MIDV-500: A Dataset for Identity Document Analysis on Mobile Devices, ICDAR.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Bulatov et al. (2021): </a:t>
            </a:r>
            <a:r>
              <a:rPr sz="1300">
                <a:solidFill>
                  <a:srgbClr val="1E293B"/>
                </a:solidFill>
              </a:rPr>
              <a:t>MIDV-2020: Comprehensive Dataset for Video-Based Identity Document Recognition, IEEE Access.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Deng et al. (2019): </a:t>
            </a:r>
            <a:r>
              <a:rPr sz="1300">
                <a:solidFill>
                  <a:srgbClr val="1E293B"/>
                </a:solidFill>
              </a:rPr>
              <a:t>ArcFace: Additive Angular Margin Loss for Deep Face Recognition, IEEE CVPR, pp. 4690-4699.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ICAO (2021): </a:t>
            </a:r>
            <a:r>
              <a:rPr sz="1300">
                <a:solidFill>
                  <a:srgbClr val="1E293B"/>
                </a:solidFill>
              </a:rPr>
              <a:t>Doc 9303: Machine Readable Travel Documents, Part 3: Specifications Common to all MRTDs, 8th Ed.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Platt, J. (1999): </a:t>
            </a:r>
            <a:r>
              <a:rPr sz="1300">
                <a:solidFill>
                  <a:srgbClr val="1E293B"/>
                </a:solidFill>
              </a:rPr>
              <a:t>Probabilistic Outputs for Support Vector Machines &amp; Comparisons to Regularized Likelihood Methods.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SYSTEM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Appendix &amp; Live Access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System Access, Repository, and Operational Contracts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Live Cloud Console: </a:t>
            </a:r>
            <a:r>
              <a:rPr sz="1300">
                <a:solidFill>
                  <a:srgbClr val="1E293B"/>
                </a:solidFill>
              </a:rPr>
              <a:t>https://forgelens.streamlit.app (or https://cyan-cooks-draw.loca.lt)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GitHub Repository: </a:t>
            </a:r>
            <a:r>
              <a:rPr sz="1300">
                <a:solidFill>
                  <a:srgbClr val="1E293B"/>
                </a:solidFill>
              </a:rPr>
              <a:t>https://github.com/aakash1552005/ForgeLens (Full source, configs, tests, and datasets)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FastAPI Swagger Docs: </a:t>
            </a:r>
            <a:r>
              <a:rPr sz="1300">
                <a:solidFill>
                  <a:srgbClr val="1E293B"/>
                </a:solidFill>
              </a:rPr>
              <a:t>http://localhost:8000/docs (OpenAPI interactive testing console)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Local Dashboard Port: </a:t>
            </a:r>
            <a:r>
              <a:rPr sz="1300">
                <a:solidFill>
                  <a:srgbClr val="1E293B"/>
                </a:solidFill>
              </a:rPr>
              <a:t>http://localhost:8501/ (Streamlit examiner console)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Automated Test Suite: </a:t>
            </a:r>
            <a:r>
              <a:rPr sz="1300">
                <a:solidFill>
                  <a:srgbClr val="1E293B"/>
                </a:solidFill>
              </a:rPr>
              <a:t>pytest tests/ -v (265 passed, 0 failed, 0 skipped, 100% pass rate)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Docker Deployment: </a:t>
            </a:r>
            <a:r>
              <a:rPr sz="1300">
                <a:solidFill>
                  <a:srgbClr val="1E293B"/>
                </a:solidFill>
              </a:rPr>
              <a:t>docker compose up --build -d (Multi-service containerized deployment)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