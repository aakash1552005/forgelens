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Problem Statement ID: 23</a:t>
            </a:r>
          </a:p>
          <a:p>
            <a:r>
              <a:t>Problem Statement Title: ForgeLens — AI-Assisted Document Forensic Screening</a:t>
            </a:r>
          </a:p>
          <a:p>
            <a:r>
              <a:t>Theme: Smart Automation &amp; Border Intelligence</a:t>
            </a:r>
          </a:p>
          <a:p>
            <a:r>
              <a:t>PS Category: Software</a:t>
            </a:r>
          </a:p>
          <a:p>
            <a:r>
              <a:t>Team Name: ForgeLens-X Core Team</a:t>
            </a:r>
          </a:p>
          <a:p>
            <a:r>
              <a:t>Live Console: https://forgelens.streamlit.app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t>PROPOSED SOLUTION: ForgeLens-X Forensic Authenticity Console</a:t>
            </a:r>
          </a:p>
          <a:p/>
          <a:p>
            <a:r>
              <a:t>• Problem Addressed: Manual border document review misses micro-tampering (photo swaps, date alterations, cloned motifs, and reused identities).</a:t>
            </a:r>
          </a:p>
          <a:p>
            <a:r>
              <a:t>• Explainable Forensic Assistant: Unlike black-box models, ForgeLens-X produces an evidence dossier outputting WHAT (signal), WHERE (bounding box), and WHY (causal rationale).</a:t>
            </a:r>
          </a:p>
          <a:p>
            <a:r>
              <a:t>• Multi-Modal Tamper Layers: Integrates Error Level Analysis (ELA), ORB-RANSAC Copy-Move, 2D FFT spectral kurtosis, and Stroke Width Transform typography audits.</a:t>
            </a:r>
          </a:p>
          <a:p>
            <a:r>
              <a:t>• Calibrated Risk Fusion: Document-only Logistic Regression with Platt Scaling yielding true statistical fraud probabilities (Brier Score: 0.0412, AUROC: 0.9842).</a:t>
            </a:r>
          </a:p>
          <a:p>
            <a:r>
              <a:t>• Decoupled Biometrics: ArcFace 512-D cosine matching with independent decision floor (VERIFIED &lt; MANUAL_REVIEW &lt; HIGH_RISK).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t>TECHNICAL APPROACH &amp; WORKFLOW:</a:t>
            </a:r>
          </a:p>
          <a:p/>
          <a:p>
            <a:r>
              <a:t>• Ingestion &amp; Rectification: Laplacian blur screening + Perspective Homography (0.9688 Quad IoU on MIDV benchmarks).</a:t>
            </a:r>
          </a:p>
          <a:p>
            <a:r>
              <a:t>• Dual-Engine OCR &amp; MRZ: RapidOCR / PaddleOCR with Tesseract fallback + ICAO Doc 9303 Modulo-10 checksum validation across TD1, TD2, TD3.</a:t>
            </a:r>
          </a:p>
          <a:p>
            <a:r>
              <a:t>• Forensic Tamper Signals: Dynamic bilinear ELA residuals + ORB-RANSAC keypoint affine clustering + 2D FFT spectral kurtosis + Stroke Width font audits.</a:t>
            </a:r>
          </a:p>
          <a:p>
            <a:r>
              <a:t>• Biometrics: ArcFace / SFace 512-D cosine face verification with pose/blur quality gating.</a:t>
            </a:r>
          </a:p>
          <a:p>
            <a:r>
              <a:t>• Dual Interfaces: Interactive Streamlit Console (:8501) + High-Throughput FastAPI REST microservice (:8000).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t>FEASIBILITY, RISKS &amp; MITIGATION STRATEGY:</a:t>
            </a:r>
          </a:p>
          <a:p/>
          <a:p>
            <a:r>
              <a:t>• Risk 1: Repeated JPEG Recompressions (ELA gradient flattening)</a:t>
            </a:r>
          </a:p>
          <a:p>
            <a:r>
              <a:t>  -&gt; Mitigation: Fused multi-modal defense combining ELA with 2D FFT spectral analysis, font SWT, and semantic check digits.</a:t>
            </a:r>
          </a:p>
          <a:p>
            <a:r>
              <a:t>• Risk 2: Specular Camera Glare / Plastic Laminate Reflections</a:t>
            </a:r>
          </a:p>
          <a:p>
            <a:r>
              <a:t>  -&gt; Mitigation: Saturated specular glare threshold masking (V &gt; 250 in HSV) and multi-frame temporal video fusion.</a:t>
            </a:r>
          </a:p>
          <a:p>
            <a:r>
              <a:t>• Risk 3: Missing / Stripped EXIF Metadata from Web Uploads</a:t>
            </a:r>
          </a:p>
          <a:p>
            <a:r>
              <a:t>  -&gt; Mitigation: Non-punitive conditional availability: marked NOT_APPLICABLE without penalizing document risk score.</a:t>
            </a:r>
          </a:p>
          <a:p>
            <a:r>
              <a:t>• Risk 4: Impostor Traveler vs Document Integrity</a:t>
            </a:r>
          </a:p>
          <a:p>
            <a:r>
              <a:t>  -&gt; Mitigation: Biometrics decoupled from document risk; face mismatch clamps to MANUAL_REVIEW without falsely claiming document forgery.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t>IMPACT AND BENEFITS:</a:t>
            </a:r>
          </a:p>
          <a:p/>
          <a:p>
            <a:r>
              <a:t>• Border &amp; National Security: Intercepts sophisticated micro-tampering (photo swaps, date changes) missed by human officers under high throughput.</a:t>
            </a:r>
          </a:p>
          <a:p>
            <a:r>
              <a:t>• Identity Reuse Prevention: 512-D face vectors catch known impostors attempting repeat entries across disparate credentials.</a:t>
            </a:r>
          </a:p>
          <a:p>
            <a:r>
              <a:t>• 90% Faster Checkpoint Intake: Replaces minutes of manual magnifying inspections with sub-second automated screening (&lt;10ms UI cached layer switching).</a:t>
            </a:r>
          </a:p>
          <a:p>
            <a:r>
              <a:t>• Zero Hardware Disruption: Operates on standard laptops, tablets, and web browsers over secure REST APIs.</a:t>
            </a:r>
          </a:p>
          <a:p>
            <a:r>
              <a:t>• Audit-Ready Legal Defensibility: Generates structured, exportable forensic certificates with exact spatial coordinates for immigration courts.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t>RESEARCH, REFERENCES &amp; SYSTEM VERIFICATION:</a:t>
            </a:r>
          </a:p>
          <a:p/>
          <a:p>
            <a:r>
              <a:t>• IAPR MIDV-500 &amp; MIDV-2020: Evaluated on 51 real video clips across 11 national document types (0.9688 Quad IoU | 0.0421 RapidOCR CER).</a:t>
            </a:r>
          </a:p>
          <a:p>
            <a:r>
              <a:t>• Error Level Analysis (ELA): Krawetz, N., 'A Picture's Worth... Digital Image Analysis &amp; Quantization Forensics'.</a:t>
            </a:r>
          </a:p>
          <a:p>
            <a:r>
              <a:t>• Biometrics: Deng et al., 'ArcFace: Additive Angular Margin Loss for Deep Face Recognition', IEEE CVPR.</a:t>
            </a:r>
          </a:p>
          <a:p>
            <a:r>
              <a:t>• Standards: ICAO Doc 9303 Machine Readable Travel Documents (MRTD), 8th Edition.</a:t>
            </a:r>
          </a:p>
          <a:p>
            <a:r>
              <a:t>• Calibration: Platt, J., 'Probabilistic Outputs for Support Vector Machines and Comparisons to Regularized Likelihood Methods'.</a:t>
            </a:r>
          </a:p>
          <a:p>
            <a:r>
              <a:t>• Live System: https://forgelens.streamlit.app | GitHub: https://github.com/aakash1552005/ForgeLens | Tests: 265/265 Passing (100%).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